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64" r:id="rId4"/>
    <p:sldId id="258" r:id="rId5"/>
    <p:sldId id="261" r:id="rId6"/>
    <p:sldId id="265" r:id="rId7"/>
    <p:sldId id="259" r:id="rId8"/>
    <p:sldId id="267" r:id="rId9"/>
    <p:sldId id="266" r:id="rId10"/>
    <p:sldId id="260" r:id="rId11"/>
    <p:sldId id="262" r:id="rId12"/>
    <p:sldId id="26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riyalayashwantraj@gmail.com" userId="cf9d1e01015602fb" providerId="LiveId" clId="{66444DF4-3199-4DAF-9F04-E2DBDC14E930}"/>
    <pc:docChg chg="undo custSel addSld delSld modSld">
      <pc:chgData name="miriyalayashwantraj@gmail.com" userId="cf9d1e01015602fb" providerId="LiveId" clId="{66444DF4-3199-4DAF-9F04-E2DBDC14E930}" dt="2026-08-31T06:32:34.520" v="103" actId="680"/>
      <pc:docMkLst>
        <pc:docMk/>
      </pc:docMkLst>
      <pc:sldChg chg="modSp mod">
        <pc:chgData name="miriyalayashwantraj@gmail.com" userId="cf9d1e01015602fb" providerId="LiveId" clId="{66444DF4-3199-4DAF-9F04-E2DBDC14E930}" dt="2026-08-31T06:24:49.872" v="71" actId="1076"/>
        <pc:sldMkLst>
          <pc:docMk/>
          <pc:sldMk cId="0" sldId="256"/>
        </pc:sldMkLst>
        <pc:spChg chg="mod">
          <ac:chgData name="miriyalayashwantraj@gmail.com" userId="cf9d1e01015602fb" providerId="LiveId" clId="{66444DF4-3199-4DAF-9F04-E2DBDC14E930}" dt="2026-08-31T06:24:49.872" v="71" actId="1076"/>
          <ac:spMkLst>
            <pc:docMk/>
            <pc:sldMk cId="0" sldId="256"/>
            <ac:spMk id="3" creationId="{00000000-0000-0000-0000-000000000000}"/>
          </ac:spMkLst>
        </pc:spChg>
      </pc:sldChg>
      <pc:sldChg chg="new del">
        <pc:chgData name="miriyalayashwantraj@gmail.com" userId="cf9d1e01015602fb" providerId="LiveId" clId="{66444DF4-3199-4DAF-9F04-E2DBDC14E930}" dt="2026-08-31T06:32:34.520" v="103" actId="680"/>
        <pc:sldMkLst>
          <pc:docMk/>
          <pc:sldMk cId="928199859" sldId="269"/>
        </pc:sldMkLst>
      </pc:sldChg>
      <pc:sldChg chg="new del">
        <pc:chgData name="miriyalayashwantraj@gmail.com" userId="cf9d1e01015602fb" providerId="LiveId" clId="{66444DF4-3199-4DAF-9F04-E2DBDC14E930}" dt="2026-08-31T06:32:33.833" v="102" actId="680"/>
        <pc:sldMkLst>
          <pc:docMk/>
          <pc:sldMk cId="1224914784" sldId="270"/>
        </pc:sldMkLst>
      </pc:sldChg>
      <pc:sldChg chg="new del">
        <pc:chgData name="miriyalayashwantraj@gmail.com" userId="cf9d1e01015602fb" providerId="LiveId" clId="{66444DF4-3199-4DAF-9F04-E2DBDC14E930}" dt="2026-08-31T06:32:33.515" v="101" actId="680"/>
        <pc:sldMkLst>
          <pc:docMk/>
          <pc:sldMk cId="2832777281" sldId="271"/>
        </pc:sldMkLst>
      </pc:sldChg>
      <pc:sldChg chg="new del">
        <pc:chgData name="miriyalayashwantraj@gmail.com" userId="cf9d1e01015602fb" providerId="LiveId" clId="{66444DF4-3199-4DAF-9F04-E2DBDC14E930}" dt="2026-08-31T06:32:33.274" v="100" actId="680"/>
        <pc:sldMkLst>
          <pc:docMk/>
          <pc:sldMk cId="2914944887" sldId="272"/>
        </pc:sldMkLst>
      </pc:sldChg>
      <pc:sldChg chg="new del">
        <pc:chgData name="miriyalayashwantraj@gmail.com" userId="cf9d1e01015602fb" providerId="LiveId" clId="{66444DF4-3199-4DAF-9F04-E2DBDC14E930}" dt="2026-08-31T06:32:32.936" v="99" actId="680"/>
        <pc:sldMkLst>
          <pc:docMk/>
          <pc:sldMk cId="3761748784" sldId="273"/>
        </pc:sldMkLst>
      </pc:sldChg>
      <pc:sldChg chg="new del">
        <pc:chgData name="miriyalayashwantraj@gmail.com" userId="cf9d1e01015602fb" providerId="LiveId" clId="{66444DF4-3199-4DAF-9F04-E2DBDC14E930}" dt="2026-08-31T06:32:32.397" v="98" actId="680"/>
        <pc:sldMkLst>
          <pc:docMk/>
          <pc:sldMk cId="2048498171" sldId="274"/>
        </pc:sldMkLst>
      </pc:sldChg>
      <pc:sldChg chg="new del">
        <pc:chgData name="miriyalayashwantraj@gmail.com" userId="cf9d1e01015602fb" providerId="LiveId" clId="{66444DF4-3199-4DAF-9F04-E2DBDC14E930}" dt="2026-08-31T06:32:31.035" v="97" actId="680"/>
        <pc:sldMkLst>
          <pc:docMk/>
          <pc:sldMk cId="835301288" sldId="275"/>
        </pc:sldMkLst>
      </pc:sldChg>
      <pc:sldChg chg="new del">
        <pc:chgData name="miriyalayashwantraj@gmail.com" userId="cf9d1e01015602fb" providerId="LiveId" clId="{66444DF4-3199-4DAF-9F04-E2DBDC14E930}" dt="2026-08-31T06:32:30.559" v="96" actId="680"/>
        <pc:sldMkLst>
          <pc:docMk/>
          <pc:sldMk cId="532086760" sldId="276"/>
        </pc:sldMkLst>
      </pc:sldChg>
      <pc:sldChg chg="new del">
        <pc:chgData name="miriyalayashwantraj@gmail.com" userId="cf9d1e01015602fb" providerId="LiveId" clId="{66444DF4-3199-4DAF-9F04-E2DBDC14E930}" dt="2026-08-31T06:32:30.252" v="95" actId="680"/>
        <pc:sldMkLst>
          <pc:docMk/>
          <pc:sldMk cId="539672916" sldId="277"/>
        </pc:sldMkLst>
      </pc:sldChg>
      <pc:sldChg chg="new del">
        <pc:chgData name="miriyalayashwantraj@gmail.com" userId="cf9d1e01015602fb" providerId="LiveId" clId="{66444DF4-3199-4DAF-9F04-E2DBDC14E930}" dt="2026-08-31T06:32:29.538" v="94" actId="680"/>
        <pc:sldMkLst>
          <pc:docMk/>
          <pc:sldMk cId="624537299" sldId="278"/>
        </pc:sldMkLst>
      </pc:sldChg>
      <pc:sldChg chg="new del">
        <pc:chgData name="miriyalayashwantraj@gmail.com" userId="cf9d1e01015602fb" providerId="LiveId" clId="{66444DF4-3199-4DAF-9F04-E2DBDC14E930}" dt="2026-08-31T06:32:27.647" v="93" actId="680"/>
        <pc:sldMkLst>
          <pc:docMk/>
          <pc:sldMk cId="479420768" sldId="279"/>
        </pc:sldMkLst>
      </pc:sldChg>
      <pc:sldChg chg="new del">
        <pc:chgData name="miriyalayashwantraj@gmail.com" userId="cf9d1e01015602fb" providerId="LiveId" clId="{66444DF4-3199-4DAF-9F04-E2DBDC14E930}" dt="2026-08-31T06:32:27.298" v="92" actId="680"/>
        <pc:sldMkLst>
          <pc:docMk/>
          <pc:sldMk cId="1054921097" sldId="280"/>
        </pc:sldMkLst>
      </pc:sldChg>
      <pc:sldChg chg="new del">
        <pc:chgData name="miriyalayashwantraj@gmail.com" userId="cf9d1e01015602fb" providerId="LiveId" clId="{66444DF4-3199-4DAF-9F04-E2DBDC14E930}" dt="2026-08-31T06:32:26.891" v="91" actId="680"/>
        <pc:sldMkLst>
          <pc:docMk/>
          <pc:sldMk cId="4078618273" sldId="281"/>
        </pc:sldMkLst>
      </pc:sldChg>
      <pc:sldChg chg="new del">
        <pc:chgData name="miriyalayashwantraj@gmail.com" userId="cf9d1e01015602fb" providerId="LiveId" clId="{66444DF4-3199-4DAF-9F04-E2DBDC14E930}" dt="2026-08-31T06:32:25.712" v="90" actId="680"/>
        <pc:sldMkLst>
          <pc:docMk/>
          <pc:sldMk cId="2513547144" sldId="282"/>
        </pc:sldMkLst>
      </pc:sldChg>
      <pc:sldChg chg="new del">
        <pc:chgData name="miriyalayashwantraj@gmail.com" userId="cf9d1e01015602fb" providerId="LiveId" clId="{66444DF4-3199-4DAF-9F04-E2DBDC14E930}" dt="2026-08-31T06:32:25.324" v="89" actId="680"/>
        <pc:sldMkLst>
          <pc:docMk/>
          <pc:sldMk cId="637903761" sldId="283"/>
        </pc:sldMkLst>
      </pc:sldChg>
      <pc:sldChg chg="new del">
        <pc:chgData name="miriyalayashwantraj@gmail.com" userId="cf9d1e01015602fb" providerId="LiveId" clId="{66444DF4-3199-4DAF-9F04-E2DBDC14E930}" dt="2026-08-31T06:32:23.362" v="88" actId="680"/>
        <pc:sldMkLst>
          <pc:docMk/>
          <pc:sldMk cId="1033689746" sldId="284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  <a:alpha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1" descr="KL University Hyderabad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4450"/>
            <a:ext cx="2101850" cy="900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7"/>
          <p:cNvSpPr/>
          <p:nvPr userDrawn="1"/>
        </p:nvSpPr>
        <p:spPr>
          <a:xfrm>
            <a:off x="0" y="6811963"/>
            <a:ext cx="12192000" cy="46037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Rectangle 8"/>
          <p:cNvSpPr/>
          <p:nvPr userDrawn="1"/>
        </p:nvSpPr>
        <p:spPr>
          <a:xfrm>
            <a:off x="0" y="0"/>
            <a:ext cx="12192000" cy="46038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pic>
        <p:nvPicPr>
          <p:cNvPr id="10" name="Picture 6" descr="Background pattern&#10;&#10;Description automatically generated"/>
          <p:cNvPicPr>
            <a:picLocks noChangeAspect="1" noChangeArrowheads="1"/>
          </p:cNvPicPr>
          <p:nvPr userDrawn="1"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003550" cy="300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20455" y="-507661"/>
            <a:ext cx="9144000" cy="2316702"/>
          </a:xfrm>
        </p:spPr>
        <p:txBody>
          <a:bodyPr/>
          <a:lstStyle/>
          <a:p>
            <a:br>
              <a:rPr sz="4000"/>
            </a:br>
            <a:br>
              <a:rPr sz="4000"/>
            </a:br>
            <a:br>
              <a:rPr sz="4000"/>
            </a:br>
            <a:br>
              <a:rPr sz="4000"/>
            </a:br>
            <a:br>
              <a:rPr sz="4000"/>
            </a:br>
            <a:br>
              <a:rPr sz="4000"/>
            </a:br>
            <a:r>
              <a:rPr sz="4000"/>
              <a:t>Data Structures and Algorithms -3 (25CS2103E)</a:t>
            </a:r>
            <a:br>
              <a:rPr sz="4000"/>
            </a:br>
            <a:r>
              <a:rPr sz="4000"/>
              <a:t>Student Lab Allocation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148862" y="1622429"/>
            <a:ext cx="4551284" cy="1396014"/>
          </a:xfrm>
        </p:spPr>
        <p:txBody>
          <a:bodyPr/>
          <a:lstStyle/>
          <a:p>
            <a:r>
              <a:t>Team Members</a:t>
            </a:r>
          </a:p>
          <a:p>
            <a:r>
              <a:t>Name: </a:t>
            </a:r>
            <a:r>
              <a:rPr lang="en-GB"/>
              <a:t>M. Yashwant raj</a:t>
            </a:r>
            <a:r>
              <a:t>   Roll No.: </a:t>
            </a:r>
            <a:r>
              <a:rPr lang="en-GB"/>
              <a:t>2520030181</a:t>
            </a:r>
            <a:endParaRPr/>
          </a:p>
          <a:p>
            <a:r>
              <a:t>Name: </a:t>
            </a:r>
            <a:r>
              <a:rPr lang="en-GB"/>
              <a:t>V. Karthik</a:t>
            </a:r>
            <a:r>
              <a:t>   Roll No.: </a:t>
            </a:r>
            <a:r>
              <a:rPr lang="en-GB"/>
              <a:t>2520030053</a:t>
            </a:r>
          </a:p>
          <a:p>
            <a:r>
              <a:rPr lang="en-GB"/>
              <a:t>Name: </a:t>
            </a:r>
            <a:r>
              <a:rPr lang="en-GB" err="1"/>
              <a:t>Rithwik</a:t>
            </a:r>
            <a:r>
              <a:rPr lang="en-GB"/>
              <a:t> </a:t>
            </a:r>
            <a:r>
              <a:rPr lang="en-GB" err="1"/>
              <a:t>Kolluri</a:t>
            </a:r>
            <a:r>
              <a:rPr lang="en-GB"/>
              <a:t> Roll No: 2520030428</a:t>
            </a:r>
            <a:endParaRPr/>
          </a:p>
          <a:p>
            <a:endParaRPr/>
          </a:p>
          <a:p>
            <a:r>
              <a:t>Under the Esteemed Guidance of</a:t>
            </a:r>
            <a:endParaRPr lang="en-GB"/>
          </a:p>
          <a:p>
            <a:r>
              <a:rPr lang="en-IN"/>
              <a:t>CH. ANURADHA  (PROFESSOR , CSE)</a:t>
            </a:r>
            <a:endParaRPr/>
          </a:p>
          <a:p>
            <a:r>
              <a:t>DSA-3 Faculty, Designation &amp; Department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1C70C049-38C4-198F-3181-AACE07DE24AE}"/>
              </a:ext>
            </a:extLst>
          </p:cNvPr>
          <p:cNvSpPr txBox="1"/>
          <p:nvPr/>
        </p:nvSpPr>
        <p:spPr>
          <a:xfrm>
            <a:off x="3736109" y="1086367"/>
            <a:ext cx="7331559" cy="50783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/>
              <a:t>Abstract</a:t>
            </a:r>
          </a:p>
          <a:p>
            <a:r>
              <a:rPr sz="3600"/>
              <a:t>Introduction</a:t>
            </a:r>
          </a:p>
          <a:p>
            <a:r>
              <a:rPr sz="3600"/>
              <a:t>Literature Survey</a:t>
            </a:r>
          </a:p>
          <a:p>
            <a:r>
              <a:rPr sz="3600"/>
              <a:t>Problem Statement and Objectives</a:t>
            </a:r>
          </a:p>
          <a:p>
            <a:r>
              <a:rPr sz="3600"/>
              <a:t>Flow Chart</a:t>
            </a:r>
          </a:p>
          <a:p>
            <a:r>
              <a:rPr sz="3600"/>
              <a:t>Results</a:t>
            </a:r>
          </a:p>
          <a:p>
            <a:r>
              <a:rPr sz="3600"/>
              <a:t>Hardware and Software Requirements</a:t>
            </a:r>
          </a:p>
          <a:p>
            <a:r>
              <a:rPr sz="3600"/>
              <a:t>Conclusion</a:t>
            </a:r>
          </a:p>
          <a:p>
            <a:r>
              <a:rPr sz="3600"/>
              <a:t>Future Scope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EAC2F32-24D5-FDE9-EB0F-31C7733C95E6}"/>
              </a:ext>
            </a:extLst>
          </p:cNvPr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CA499C0-FC38-6642-1E16-B8CFFC9C9314}"/>
              </a:ext>
            </a:extLst>
          </p:cNvPr>
          <p:cNvSpPr txBox="1"/>
          <p:nvPr/>
        </p:nvSpPr>
        <p:spPr>
          <a:xfrm>
            <a:off x="2660072" y="221673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>
                <a:solidFill>
                  <a:schemeClr val="bg1"/>
                </a:solidFill>
              </a:rPr>
              <a:t>Contents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2660072" y="221673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>
                <a:solidFill>
                  <a:schemeClr val="bg1"/>
                </a:solidFill>
              </a:rPr>
              <a:t>Abstract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508760"/>
            <a:ext cx="10287000" cy="47091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  <a:defRPr sz="2100" b="0">
                <a:latin typeface="Aptos"/>
              </a:defRPr>
            </a:pPr>
            <a:r>
              <a:t>Student Lab Allocation is a DSA-based system that assigns students to available computer laboratories and time slots while respecting lab capacity and scheduling constraints.</a:t>
            </a:r>
          </a:p>
          <a:p>
            <a:pPr algn="l">
              <a:spcAft>
                <a:spcPts val="600"/>
              </a:spcAft>
              <a:defRPr sz="2100" b="0">
                <a:latin typeface="Aptos"/>
              </a:defRPr>
            </a:pPr>
            <a:endParaRPr/>
          </a:p>
          <a:p>
            <a:pPr algn="l">
              <a:spcAft>
                <a:spcPts val="600"/>
              </a:spcAft>
              <a:defRPr sz="2100" b="0">
                <a:latin typeface="Aptos"/>
              </a:defRPr>
            </a:pPr>
            <a:r>
              <a:t>The system organizes student requests, processes them systematically, and produces an allocation list that reduces clashes and manual effort.</a:t>
            </a:r>
          </a:p>
          <a:p>
            <a:pPr algn="l">
              <a:spcAft>
                <a:spcPts val="600"/>
              </a:spcAft>
              <a:defRPr sz="2100" b="0">
                <a:latin typeface="Aptos"/>
              </a:defRPr>
            </a:pPr>
            <a:endParaRPr/>
          </a:p>
          <a:p>
            <a:pPr algn="l">
              <a:spcAft>
                <a:spcPts val="600"/>
              </a:spcAft>
              <a:defRPr sz="2100" b="0">
                <a:latin typeface="Aptos"/>
              </a:defRPr>
            </a:pPr>
            <a:r>
              <a:t>DSA concepts such as arrays/lists, queues, sorting and greedy allocation can be used to make the allocation process efficient and easy to manage.</a:t>
            </a:r>
          </a:p>
        </p:txBody>
      </p:sp>
    </p:spTree>
    <p:extLst>
      <p:ext uri="{BB962C8B-B14F-4D97-AF65-F5344CB8AC3E}">
        <p14:creationId xmlns:p14="http://schemas.microsoft.com/office/powerpoint/2010/main" val="16724225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>
                <a:solidFill>
                  <a:schemeClr val="bg1"/>
                </a:solidFill>
              </a:rP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508760"/>
            <a:ext cx="10287000" cy="47091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  <a:defRPr sz="2100" b="0">
                <a:latin typeface="Aptos"/>
              </a:defRPr>
            </a:pPr>
            <a:r>
              <a:t>• Manual lab allocation becomes difficult when the number of students, labs and time slots increases.</a:t>
            </a:r>
          </a:p>
          <a:p>
            <a:pPr algn="l">
              <a:spcAft>
                <a:spcPts val="600"/>
              </a:spcAft>
              <a:defRPr sz="2100" b="0">
                <a:latin typeface="Aptos"/>
              </a:defRPr>
            </a:pPr>
            <a:r>
              <a:t>• Each laboratory has a fixed capacity and may be available only during selected periods.</a:t>
            </a:r>
          </a:p>
          <a:p>
            <a:pPr algn="l">
              <a:spcAft>
                <a:spcPts val="600"/>
              </a:spcAft>
              <a:defRPr sz="2100" b="0">
                <a:latin typeface="Aptos"/>
              </a:defRPr>
            </a:pPr>
            <a:r>
              <a:t>• The objective is to distribute students fairly while avoiding duplicate or conflicting assignments.</a:t>
            </a:r>
          </a:p>
          <a:p>
            <a:pPr algn="l">
              <a:spcAft>
                <a:spcPts val="600"/>
              </a:spcAft>
              <a:defRPr sz="2100" b="0">
                <a:latin typeface="Aptos"/>
              </a:defRPr>
            </a:pPr>
            <a:r>
              <a:t>• A data-structure-based approach makes the process systematic, faster and easier to update.</a:t>
            </a:r>
          </a:p>
          <a:p>
            <a:pPr algn="l">
              <a:spcAft>
                <a:spcPts val="600"/>
              </a:spcAft>
              <a:defRPr sz="2100" b="0">
                <a:latin typeface="Aptos"/>
              </a:defRPr>
            </a:pPr>
            <a:r>
              <a:t>• The final output is a clear student-to-lab and slot allocation.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>
                <a:solidFill>
                  <a:schemeClr val="bg1"/>
                </a:solidFill>
              </a:rPr>
              <a:t>Literature Survey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508760"/>
            <a:ext cx="10287000" cy="47091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  <a:defRPr sz="1800" b="0">
                <a:latin typeface="Aptos"/>
              </a:defRPr>
            </a:pPr>
            <a:r>
              <a:t>1. First-Come, First-Served (FCFS) scheduling</a:t>
            </a:r>
          </a:p>
          <a:p>
            <a:pPr algn="l">
              <a:spcAft>
                <a:spcPts val="600"/>
              </a:spcAft>
              <a:defRPr sz="1800" b="0">
                <a:latin typeface="Aptos"/>
              </a:defRPr>
            </a:pPr>
            <a:r>
              <a:t>   Simple queue-based processing; easy to implement but may not provide the best overall allocation.</a:t>
            </a:r>
          </a:p>
          <a:p>
            <a:pPr algn="l">
              <a:spcAft>
                <a:spcPts val="600"/>
              </a:spcAft>
              <a:defRPr sz="1800" b="0">
                <a:latin typeface="Aptos"/>
              </a:defRPr>
            </a:pPr>
            <a:endParaRPr/>
          </a:p>
          <a:p>
            <a:pPr algn="l">
              <a:spcAft>
                <a:spcPts val="600"/>
              </a:spcAft>
              <a:defRPr sz="1800" b="0">
                <a:latin typeface="Aptos"/>
              </a:defRPr>
            </a:pPr>
            <a:r>
              <a:t>2. Greedy scheduling</a:t>
            </a:r>
          </a:p>
          <a:p>
            <a:pPr algn="l">
              <a:spcAft>
                <a:spcPts val="600"/>
              </a:spcAft>
              <a:defRPr sz="1800" b="0">
                <a:latin typeface="Aptos"/>
              </a:defRPr>
            </a:pPr>
            <a:r>
              <a:t>   Makes the best feasible choice at each step, making it suitable for capacity and slot assignment.</a:t>
            </a:r>
          </a:p>
          <a:p>
            <a:pPr algn="l">
              <a:spcAft>
                <a:spcPts val="600"/>
              </a:spcAft>
              <a:defRPr sz="1800" b="0">
                <a:latin typeface="Aptos"/>
              </a:defRPr>
            </a:pPr>
            <a:endParaRPr/>
          </a:p>
          <a:p>
            <a:pPr algn="l">
              <a:spcAft>
                <a:spcPts val="600"/>
              </a:spcAft>
              <a:defRPr sz="1800" b="0">
                <a:latin typeface="Aptos"/>
              </a:defRPr>
            </a:pPr>
            <a:r>
              <a:t>3. Graph-based scheduling</a:t>
            </a:r>
          </a:p>
          <a:p>
            <a:pPr algn="l">
              <a:spcAft>
                <a:spcPts val="600"/>
              </a:spcAft>
              <a:defRPr sz="1800" b="0">
                <a:latin typeface="Aptos"/>
              </a:defRPr>
            </a:pPr>
            <a:r>
              <a:t>   Conflicts can be represented as edges between students/groups that should not share a slot.</a:t>
            </a:r>
          </a:p>
          <a:p>
            <a:pPr algn="l">
              <a:spcAft>
                <a:spcPts val="600"/>
              </a:spcAft>
              <a:defRPr sz="1800" b="0">
                <a:latin typeface="Aptos"/>
              </a:defRPr>
            </a:pPr>
            <a:endParaRPr/>
          </a:p>
          <a:p>
            <a:pPr algn="l">
              <a:spcAft>
                <a:spcPts val="600"/>
              </a:spcAft>
              <a:defRPr sz="1800" b="0">
                <a:latin typeface="Aptos"/>
              </a:defRPr>
            </a:pPr>
            <a:r>
              <a:t>4. Automated timetable systems</a:t>
            </a:r>
          </a:p>
          <a:p>
            <a:pPr algn="l">
              <a:spcAft>
                <a:spcPts val="600"/>
              </a:spcAft>
              <a:defRPr sz="1800" b="0">
                <a:latin typeface="Aptos"/>
              </a:defRPr>
            </a:pPr>
            <a:r>
              <a:t>   Existing scheduling approaches show that data structures and constraint checks can reduce manual allocation effort.</a:t>
            </a:r>
          </a:p>
          <a:p>
            <a:pPr algn="l">
              <a:spcAft>
                <a:spcPts val="600"/>
              </a:spcAft>
              <a:defRPr sz="1800" b="0">
                <a:latin typeface="Aptos"/>
              </a:defRPr>
            </a:pPr>
            <a:endParaRPr/>
          </a:p>
          <a:p>
            <a:pPr algn="l">
              <a:spcAft>
                <a:spcPts val="600"/>
              </a:spcAft>
              <a:defRPr sz="1800" b="0">
                <a:latin typeface="Aptos"/>
              </a:defRPr>
            </a:pPr>
            <a:r>
              <a:t>Our project focuses on a simpler, DSA-oriented allocation workflow suitable for an academic lab environment.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2660072" y="221673"/>
            <a:ext cx="6723625" cy="65579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2660072" y="292694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>
                <a:solidFill>
                  <a:schemeClr val="bg1"/>
                </a:solidFill>
              </a:rPr>
              <a:t>Problem Statement and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00200"/>
            <a:ext cx="10424160" cy="4480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  <a:defRPr sz="2000" b="0">
                <a:latin typeface="Aptos"/>
              </a:defRPr>
            </a:pPr>
            <a:r>
              <a:t>Problem Statement:</a:t>
            </a:r>
          </a:p>
          <a:p>
            <a:pPr algn="l">
              <a:spcAft>
                <a:spcPts val="600"/>
              </a:spcAft>
              <a:defRPr sz="2000" b="0">
                <a:latin typeface="Aptos"/>
              </a:defRPr>
            </a:pPr>
            <a:r>
              <a:t>Design a system that allocates students to available laboratory slots without exceeding lab capacity and while minimizing scheduling conflicts.</a:t>
            </a:r>
          </a:p>
          <a:p>
            <a:pPr algn="l">
              <a:spcAft>
                <a:spcPts val="600"/>
              </a:spcAft>
              <a:defRPr sz="2000" b="0">
                <a:latin typeface="Aptos"/>
              </a:defRPr>
            </a:pPr>
            <a:endParaRPr/>
          </a:p>
          <a:p>
            <a:pPr algn="l">
              <a:spcAft>
                <a:spcPts val="600"/>
              </a:spcAft>
              <a:defRPr sz="2000" b="0">
                <a:latin typeface="Aptos"/>
              </a:defRPr>
            </a:pPr>
            <a:r>
              <a:t>Objectives:</a:t>
            </a:r>
          </a:p>
          <a:p>
            <a:pPr algn="l">
              <a:spcAft>
                <a:spcPts val="600"/>
              </a:spcAft>
              <a:defRPr sz="2000" b="0">
                <a:latin typeface="Aptos"/>
              </a:defRPr>
            </a:pPr>
            <a:r>
              <a:t>• Store and organize student, lab and slot information efficiently.</a:t>
            </a:r>
          </a:p>
          <a:p>
            <a:pPr algn="l">
              <a:spcAft>
                <a:spcPts val="600"/>
              </a:spcAft>
              <a:defRPr sz="2000" b="0">
                <a:latin typeface="Aptos"/>
              </a:defRPr>
            </a:pPr>
            <a:r>
              <a:t>• Allocate students using a systematic DSA-based strategy.</a:t>
            </a:r>
          </a:p>
          <a:p>
            <a:pPr algn="l">
              <a:spcAft>
                <a:spcPts val="600"/>
              </a:spcAft>
              <a:defRPr sz="2000" b="0">
                <a:latin typeface="Aptos"/>
              </a:defRPr>
            </a:pPr>
            <a:r>
              <a:t>• Ensure that the number of students assigned to a lab does not exceed its capacity.</a:t>
            </a:r>
          </a:p>
          <a:p>
            <a:pPr algn="l">
              <a:spcAft>
                <a:spcPts val="600"/>
              </a:spcAft>
              <a:defRPr sz="2000" b="0">
                <a:latin typeface="Aptos"/>
              </a:defRPr>
            </a:pPr>
            <a:r>
              <a:t>• Generate an understandable final allocation for students and administrators.</a:t>
            </a:r>
          </a:p>
        </p:txBody>
      </p:sp>
    </p:spTree>
    <p:extLst>
      <p:ext uri="{BB962C8B-B14F-4D97-AF65-F5344CB8AC3E}">
        <p14:creationId xmlns:p14="http://schemas.microsoft.com/office/powerpoint/2010/main" val="34410266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>
                <a:solidFill>
                  <a:schemeClr val="bg1"/>
                </a:solidFill>
              </a:rPr>
              <a:t>Flow Chart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617720" y="1417320"/>
            <a:ext cx="2926080" cy="5029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/>
              <a:t>Start</a:t>
            </a:r>
          </a:p>
        </p:txBody>
      </p:sp>
      <p:sp>
        <p:nvSpPr>
          <p:cNvPr id="5" name="Rectangle 4"/>
          <p:cNvSpPr/>
          <p:nvPr/>
        </p:nvSpPr>
        <p:spPr>
          <a:xfrm>
            <a:off x="3886200" y="2148840"/>
            <a:ext cx="4389120" cy="59436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/>
              <a:t>Input student, lab &amp; slot data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4069080" y="2971800"/>
            <a:ext cx="4023360" cy="59436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/>
              <a:t>Sort / queue students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3886200" y="3794760"/>
            <a:ext cx="4389120" cy="59436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/>
              <a:t>Select available lab &amp; slot</a:t>
            </a:r>
          </a:p>
        </p:txBody>
      </p:sp>
      <p:sp>
        <p:nvSpPr>
          <p:cNvPr id="8" name="Diamond 7"/>
          <p:cNvSpPr/>
          <p:nvPr/>
        </p:nvSpPr>
        <p:spPr>
          <a:xfrm>
            <a:off x="3977639" y="4617720"/>
            <a:ext cx="4206240" cy="594360"/>
          </a:xfrm>
          <a:prstGeom prst="diamond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/>
              <a:t>Capacity / conflict check</a:t>
            </a:r>
          </a:p>
        </p:txBody>
      </p:sp>
      <p:sp>
        <p:nvSpPr>
          <p:cNvPr id="9" name="Rectangle 8"/>
          <p:cNvSpPr/>
          <p:nvPr/>
        </p:nvSpPr>
        <p:spPr>
          <a:xfrm>
            <a:off x="4343400" y="5486400"/>
            <a:ext cx="3474720" cy="54864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/>
              <a:t>Assign student</a:t>
            </a:r>
          </a:p>
        </p:txBody>
      </p:sp>
      <p:sp>
        <p:nvSpPr>
          <p:cNvPr id="10" name="Down Arrow 9"/>
          <p:cNvSpPr/>
          <p:nvPr/>
        </p:nvSpPr>
        <p:spPr>
          <a:xfrm>
            <a:off x="5623560" y="1938528"/>
            <a:ext cx="411480" cy="256032"/>
          </a:xfrm>
          <a:prstGeom prst="downArrow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Down Arrow 10"/>
          <p:cNvSpPr/>
          <p:nvPr/>
        </p:nvSpPr>
        <p:spPr>
          <a:xfrm>
            <a:off x="5623560" y="2761488"/>
            <a:ext cx="411480" cy="256032"/>
          </a:xfrm>
          <a:prstGeom prst="downArrow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Down Arrow 11"/>
          <p:cNvSpPr/>
          <p:nvPr/>
        </p:nvSpPr>
        <p:spPr>
          <a:xfrm>
            <a:off x="5623560" y="3584448"/>
            <a:ext cx="411480" cy="256032"/>
          </a:xfrm>
          <a:prstGeom prst="downArrow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Down Arrow 12"/>
          <p:cNvSpPr/>
          <p:nvPr/>
        </p:nvSpPr>
        <p:spPr>
          <a:xfrm>
            <a:off x="5623560" y="4407408"/>
            <a:ext cx="411480" cy="256032"/>
          </a:xfrm>
          <a:prstGeom prst="downArrow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Down Arrow 13"/>
          <p:cNvSpPr/>
          <p:nvPr/>
        </p:nvSpPr>
        <p:spPr>
          <a:xfrm>
            <a:off x="5623560" y="5230368"/>
            <a:ext cx="411480" cy="256032"/>
          </a:xfrm>
          <a:prstGeom prst="downArrow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183879" y="4572000"/>
            <a:ext cx="2651760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  <a:defRPr sz="1400" b="1">
                <a:latin typeface="Aptos"/>
              </a:defRPr>
            </a:pPr>
            <a:r>
              <a:t>If valid → continue allocation</a:t>
            </a:r>
          </a:p>
          <a:p>
            <a:pPr algn="l">
              <a:spcAft>
                <a:spcPts val="600"/>
              </a:spcAft>
              <a:defRPr sz="1400" b="1">
                <a:latin typeface="Aptos"/>
              </a:defRPr>
            </a:pPr>
            <a:r>
              <a:t>If full/conflicting → try next feasible option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kern="0">
                <a:solidFill>
                  <a:schemeClr val="bg1"/>
                </a:solidFill>
                <a:effectLst/>
                <a:ea typeface="Times New Roman" panose="02020603050405020304" pitchFamily="18" charset="0"/>
              </a:rPr>
              <a:t>Results</a:t>
            </a:r>
            <a:endParaRPr lang="en-US" sz="3200" b="1">
              <a:solidFill>
                <a:schemeClr val="bg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60120" y="1508760"/>
            <a:ext cx="10287000" cy="47091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  <a:defRPr sz="1900" b="0">
                <a:latin typeface="Aptos"/>
              </a:defRPr>
            </a:pPr>
            <a:r>
              <a:t>Sample Result:</a:t>
            </a:r>
          </a:p>
          <a:p>
            <a:pPr algn="l">
              <a:spcAft>
                <a:spcPts val="600"/>
              </a:spcAft>
              <a:defRPr sz="1900" b="0">
                <a:latin typeface="Aptos"/>
              </a:defRPr>
            </a:pPr>
            <a:endParaRPr/>
          </a:p>
          <a:p>
            <a:pPr algn="l">
              <a:spcAft>
                <a:spcPts val="600"/>
              </a:spcAft>
              <a:defRPr sz="1900" b="0">
                <a:latin typeface="Aptos"/>
              </a:defRPr>
            </a:pPr>
            <a:r>
              <a:t>Student      Lab        Slot</a:t>
            </a:r>
          </a:p>
          <a:p>
            <a:pPr algn="l">
              <a:spcAft>
                <a:spcPts val="600"/>
              </a:spcAft>
              <a:defRPr sz="1900" b="0">
                <a:latin typeface="Aptos"/>
              </a:defRPr>
            </a:pPr>
            <a:r>
              <a:t>S01          Lab-1      09:00–10:00</a:t>
            </a:r>
          </a:p>
          <a:p>
            <a:pPr algn="l">
              <a:spcAft>
                <a:spcPts val="600"/>
              </a:spcAft>
              <a:defRPr sz="1900" b="0">
                <a:latin typeface="Aptos"/>
              </a:defRPr>
            </a:pPr>
            <a:r>
              <a:t>S02          Lab-1      09:00–10:00</a:t>
            </a:r>
          </a:p>
          <a:p>
            <a:pPr algn="l">
              <a:spcAft>
                <a:spcPts val="600"/>
              </a:spcAft>
              <a:defRPr sz="1900" b="0">
                <a:latin typeface="Aptos"/>
              </a:defRPr>
            </a:pPr>
            <a:r>
              <a:t>S03          Lab-2      09:00–10:00</a:t>
            </a:r>
          </a:p>
          <a:p>
            <a:pPr algn="l">
              <a:spcAft>
                <a:spcPts val="600"/>
              </a:spcAft>
              <a:defRPr sz="1900" b="0">
                <a:latin typeface="Aptos"/>
              </a:defRPr>
            </a:pPr>
            <a:r>
              <a:t>S04          Lab-2      10:00–11:00</a:t>
            </a:r>
          </a:p>
          <a:p>
            <a:pPr algn="l">
              <a:spcAft>
                <a:spcPts val="600"/>
              </a:spcAft>
              <a:defRPr sz="1900" b="0">
                <a:latin typeface="Aptos"/>
              </a:defRPr>
            </a:pPr>
            <a:r>
              <a:t>S05          Lab-1      10:00–11:00</a:t>
            </a:r>
          </a:p>
          <a:p>
            <a:pPr algn="l">
              <a:spcAft>
                <a:spcPts val="600"/>
              </a:spcAft>
              <a:defRPr sz="1900" b="0">
                <a:latin typeface="Aptos"/>
              </a:defRPr>
            </a:pPr>
            <a:endParaRPr/>
          </a:p>
          <a:p>
            <a:pPr algn="l">
              <a:spcAft>
                <a:spcPts val="600"/>
              </a:spcAft>
              <a:defRPr sz="1900" b="0">
                <a:latin typeface="Aptos"/>
              </a:defRPr>
            </a:pPr>
            <a:r>
              <a:t>The system produces an allocation list in which lab capacity is respected and each student receives a clear lab-slot assignment.</a:t>
            </a:r>
          </a:p>
          <a:p>
            <a:pPr algn="l">
              <a:spcAft>
                <a:spcPts val="600"/>
              </a:spcAft>
              <a:defRPr sz="1900" b="0">
                <a:latin typeface="Aptos"/>
              </a:defRPr>
            </a:pPr>
            <a:endParaRPr/>
          </a:p>
          <a:p>
            <a:pPr algn="l">
              <a:spcAft>
                <a:spcPts val="600"/>
              </a:spcAft>
              <a:defRPr sz="1900" b="0">
                <a:latin typeface="Aptos"/>
              </a:defRPr>
            </a:pPr>
            <a:r>
              <a:t>Result quality can be evaluated using successful allocations, capacity violations and scheduling conflicts.</a:t>
            </a:r>
          </a:p>
        </p:txBody>
      </p:sp>
    </p:spTree>
    <p:extLst>
      <p:ext uri="{BB962C8B-B14F-4D97-AF65-F5344CB8AC3E}">
        <p14:creationId xmlns:p14="http://schemas.microsoft.com/office/powerpoint/2010/main" val="1060922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654372" y="262038"/>
            <a:ext cx="6419945" cy="60395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3547840" y="302403"/>
            <a:ext cx="68718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kern="0">
                <a:solidFill>
                  <a:schemeClr val="bg1"/>
                </a:solidFill>
                <a:effectLst/>
                <a:ea typeface="Times New Roman" panose="02020603050405020304" pitchFamily="18" charset="0"/>
              </a:rPr>
              <a:t>Hardware and Software requirements</a:t>
            </a:r>
            <a:endParaRPr lang="en-US" sz="2800" b="1">
              <a:solidFill>
                <a:schemeClr val="bg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60120" y="1508760"/>
            <a:ext cx="10287000" cy="46634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  <a:defRPr sz="1900" b="0">
                <a:latin typeface="Aptos"/>
              </a:defRPr>
            </a:pPr>
            <a:r>
              <a:t>Hardware Requirements</a:t>
            </a:r>
          </a:p>
          <a:p>
            <a:pPr algn="l">
              <a:spcAft>
                <a:spcPts val="600"/>
              </a:spcAft>
              <a:defRPr sz="1900" b="0">
                <a:latin typeface="Aptos"/>
              </a:defRPr>
            </a:pPr>
            <a:r>
              <a:t>• Computer / laptop</a:t>
            </a:r>
          </a:p>
          <a:p>
            <a:pPr algn="l">
              <a:spcAft>
                <a:spcPts val="600"/>
              </a:spcAft>
              <a:defRPr sz="1900" b="0">
                <a:latin typeface="Aptos"/>
              </a:defRPr>
            </a:pPr>
            <a:r>
              <a:t>• Minimum 4 GB RAM</a:t>
            </a:r>
          </a:p>
          <a:p>
            <a:pPr algn="l">
              <a:spcAft>
                <a:spcPts val="600"/>
              </a:spcAft>
              <a:defRPr sz="1900" b="0">
                <a:latin typeface="Aptos"/>
              </a:defRPr>
            </a:pPr>
            <a:r>
              <a:t>• Standard keyboard and display</a:t>
            </a:r>
          </a:p>
          <a:p>
            <a:pPr algn="l">
              <a:spcAft>
                <a:spcPts val="600"/>
              </a:spcAft>
              <a:defRPr sz="1900" b="0">
                <a:latin typeface="Aptos"/>
              </a:defRPr>
            </a:pPr>
            <a:endParaRPr/>
          </a:p>
          <a:p>
            <a:pPr algn="l">
              <a:spcAft>
                <a:spcPts val="600"/>
              </a:spcAft>
              <a:defRPr sz="1900" b="0">
                <a:latin typeface="Aptos"/>
              </a:defRPr>
            </a:pPr>
            <a:r>
              <a:t>Software Requirements</a:t>
            </a:r>
          </a:p>
          <a:p>
            <a:pPr algn="l">
              <a:spcAft>
                <a:spcPts val="600"/>
              </a:spcAft>
              <a:defRPr sz="1900" b="0">
                <a:latin typeface="Aptos"/>
              </a:defRPr>
            </a:pPr>
            <a:r>
              <a:t>• Ubuntu / Linux or Windows</a:t>
            </a:r>
          </a:p>
          <a:p>
            <a:pPr algn="l">
              <a:spcAft>
                <a:spcPts val="600"/>
              </a:spcAft>
              <a:defRPr sz="1900" b="0">
                <a:latin typeface="Aptos"/>
              </a:defRPr>
            </a:pPr>
            <a:r>
              <a:t>• C / C++ compiler (GCC or G++)</a:t>
            </a:r>
          </a:p>
          <a:p>
            <a:pPr algn="l">
              <a:spcAft>
                <a:spcPts val="600"/>
              </a:spcAft>
              <a:defRPr sz="1900" b="0">
                <a:latin typeface="Aptos"/>
              </a:defRPr>
            </a:pPr>
            <a:r>
              <a:t>• VS Code / Code::Blocks / any suitable IDE</a:t>
            </a:r>
          </a:p>
          <a:p>
            <a:pPr algn="l">
              <a:spcAft>
                <a:spcPts val="600"/>
              </a:spcAft>
              <a:defRPr sz="1900" b="0">
                <a:latin typeface="Aptos"/>
              </a:defRPr>
            </a:pPr>
            <a:r>
              <a:t>• Terminal for compiling and executing the program</a:t>
            </a:r>
          </a:p>
          <a:p>
            <a:pPr algn="l">
              <a:spcAft>
                <a:spcPts val="600"/>
              </a:spcAft>
              <a:defRPr sz="1900" b="0">
                <a:latin typeface="Aptos"/>
              </a:defRPr>
            </a:pPr>
            <a:endParaRPr/>
          </a:p>
          <a:p>
            <a:pPr algn="l">
              <a:spcAft>
                <a:spcPts val="600"/>
              </a:spcAft>
              <a:defRPr sz="1900" b="0">
                <a:latin typeface="Aptos"/>
              </a:defRPr>
            </a:pPr>
            <a:r>
              <a:t>No special hardware is required because the project is primarily a software and data-structure implementation.</a:t>
            </a:r>
          </a:p>
        </p:txBody>
      </p:sp>
    </p:spTree>
    <p:extLst>
      <p:ext uri="{BB962C8B-B14F-4D97-AF65-F5344CB8AC3E}">
        <p14:creationId xmlns:p14="http://schemas.microsoft.com/office/powerpoint/2010/main" val="22927509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87903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>
                <a:solidFill>
                  <a:schemeClr val="bg1"/>
                </a:solidFill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508760"/>
            <a:ext cx="10287000" cy="47091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  <a:defRPr sz="2100" b="0">
                <a:latin typeface="Aptos"/>
              </a:defRPr>
            </a:pPr>
            <a:r>
              <a:t>• Student Lab Allocation demonstrates how data structures can solve a practical scheduling problem.</a:t>
            </a:r>
          </a:p>
          <a:p>
            <a:pPr algn="l">
              <a:spcAft>
                <a:spcPts val="600"/>
              </a:spcAft>
              <a:defRPr sz="2100" b="0">
                <a:latin typeface="Aptos"/>
              </a:defRPr>
            </a:pPr>
            <a:r>
              <a:t>• Queue/list-based processing helps organize student requests.</a:t>
            </a:r>
          </a:p>
          <a:p>
            <a:pPr algn="l">
              <a:spcAft>
                <a:spcPts val="600"/>
              </a:spcAft>
              <a:defRPr sz="2100" b="0">
                <a:latin typeface="Aptos"/>
              </a:defRPr>
            </a:pPr>
            <a:r>
              <a:t>• Capacity and conflict checks make each assignment valid.</a:t>
            </a:r>
          </a:p>
          <a:p>
            <a:pPr algn="l">
              <a:spcAft>
                <a:spcPts val="600"/>
              </a:spcAft>
              <a:defRPr sz="2100" b="0">
                <a:latin typeface="Aptos"/>
              </a:defRPr>
            </a:pPr>
            <a:r>
              <a:t>• A systematic allocation method reduces manual work and produces a clear final schedule.</a:t>
            </a:r>
          </a:p>
          <a:p>
            <a:pPr algn="l">
              <a:spcAft>
                <a:spcPts val="600"/>
              </a:spcAft>
              <a:defRPr sz="2100" b="0">
                <a:latin typeface="Aptos"/>
              </a:defRPr>
            </a:pPr>
            <a:r>
              <a:t>• The design can be extended with more constraints and smarter optimization techniques.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2660072" y="154134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>
                <a:solidFill>
                  <a:schemeClr val="bg1"/>
                </a:solidFill>
              </a:rPr>
              <a:t> Future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508760"/>
            <a:ext cx="10287000" cy="47091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  <a:defRPr sz="2000" b="0">
                <a:latin typeface="Aptos"/>
              </a:defRPr>
            </a:pPr>
            <a:r>
              <a:t>• Add multiple departments, courses and laboratory types.</a:t>
            </a:r>
          </a:p>
          <a:p>
            <a:pPr algn="l">
              <a:spcAft>
                <a:spcPts val="600"/>
              </a:spcAft>
              <a:defRPr sz="2000" b="0">
                <a:latin typeface="Aptos"/>
              </a:defRPr>
            </a:pPr>
            <a:r>
              <a:t>• Introduce priority-based allocation for special requirements.</a:t>
            </a:r>
          </a:p>
          <a:p>
            <a:pPr algn="l">
              <a:spcAft>
                <a:spcPts val="600"/>
              </a:spcAft>
              <a:defRPr sz="2000" b="0">
                <a:latin typeface="Aptos"/>
              </a:defRPr>
            </a:pPr>
            <a:r>
              <a:t>• Use graph coloring to handle larger conflict networks.</a:t>
            </a:r>
          </a:p>
          <a:p>
            <a:pPr algn="l">
              <a:spcAft>
                <a:spcPts val="600"/>
              </a:spcAft>
              <a:defRPr sz="2000" b="0">
                <a:latin typeface="Aptos"/>
              </a:defRPr>
            </a:pPr>
            <a:r>
              <a:t>• Add a graphical interface for students and administrators.</a:t>
            </a:r>
          </a:p>
          <a:p>
            <a:pPr algn="l">
              <a:spcAft>
                <a:spcPts val="600"/>
              </a:spcAft>
              <a:defRPr sz="2000" b="0">
                <a:latin typeface="Aptos"/>
              </a:defRPr>
            </a:pPr>
            <a:r>
              <a:t>• Store allocation data in a database for persistent records.</a:t>
            </a:r>
          </a:p>
          <a:p>
            <a:pPr algn="l">
              <a:spcAft>
                <a:spcPts val="600"/>
              </a:spcAft>
              <a:defRPr sz="2000" b="0">
                <a:latin typeface="Aptos"/>
              </a:defRPr>
            </a:pPr>
            <a:r>
              <a:t>• Add automatic reallocation when a lab becomes unavailable.</a:t>
            </a:r>
          </a:p>
          <a:p>
            <a:pPr algn="l">
              <a:spcAft>
                <a:spcPts val="600"/>
              </a:spcAft>
              <a:defRPr sz="2000" b="0">
                <a:latin typeface="Aptos"/>
              </a:defRPr>
            </a:pPr>
            <a:r>
              <a:t>• Optimize allocations for better lab utilization and fewer unused seats.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3736107" y="2619376"/>
            <a:ext cx="4946253" cy="135782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/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383280" y="4434840"/>
            <a:ext cx="5394960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2000" b="1">
                <a:latin typeface="Aptos"/>
              </a:defRPr>
            </a:pPr>
            <a:r>
              <a:t>Student Lab Allocation</a:t>
            </a:r>
          </a:p>
          <a:p>
            <a:pPr algn="ctr">
              <a:spcAft>
                <a:spcPts val="600"/>
              </a:spcAft>
              <a:defRPr sz="2000" b="1">
                <a:latin typeface="Aptos"/>
              </a:defRPr>
            </a:pPr>
            <a:r>
              <a:t>DSA-3 Project</a:t>
            </a:r>
          </a:p>
        </p:txBody>
      </p:sp>
    </p:spTree>
    <p:extLst>
      <p:ext uri="{BB962C8B-B14F-4D97-AF65-F5344CB8AC3E}">
        <p14:creationId xmlns:p14="http://schemas.microsoft.com/office/powerpoint/2010/main" val="13135434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12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      Data Structures and Algorithms -3 (25CS2103E) Student Lab Allocation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Sirisha Devi</dc:creator>
  <cp:revision>1</cp:revision>
  <dcterms:created xsi:type="dcterms:W3CDTF">2024-08-29T05:25:00Z</dcterms:created>
  <dcterms:modified xsi:type="dcterms:W3CDTF">2026-08-31T06:33:08Z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FB2A1F042FC047C6B4D7E0BF0C20B2E9_13</vt:lpwstr>
  </property>
  <property fmtid="{D5CDD505-2E9C-101B-9397-08002B2CF9AE}" pid="3" name="KSOProductBuildVer">
    <vt:lpwstr>1033-12.2.0.23131</vt:lpwstr>
  </property>
</Properties>
</file>